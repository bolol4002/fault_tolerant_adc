
<file path=[Content_Types].xml><?xml version="1.0" encoding="utf-8"?>
<Types xmlns="http://schemas.openxmlformats.org/package/2006/content-types">
  <Default Extension="bin" ContentType="image/unknown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7" r:id="rId10"/>
    <p:sldId id="270" r:id="rId11"/>
    <p:sldId id="271" r:id="rId12"/>
    <p:sldId id="263" r:id="rId13"/>
    <p:sldId id="264" r:id="rId14"/>
    <p:sldId id="273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7E62B5-33C7-4C8E-925A-7350292D817C}" v="29" dt="2025-09-24T16:18:53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45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971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37846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07102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7843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13513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76765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2740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Slide 8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679074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36432510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146064289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024509" y="4843462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93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Slide 7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408367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402827247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1954983760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024509" y="4843462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720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7" Type="http://schemas.openxmlformats.org/officeDocument/2006/relationships/image" Target="../media/image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bin"/><Relationship Id="rId5" Type="http://schemas.openxmlformats.org/officeDocument/2006/relationships/image" Target="../media/image5.bin"/><Relationship Id="rId4" Type="http://schemas.openxmlformats.org/officeDocument/2006/relationships/image" Target="../media/image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7" Type="http://schemas.openxmlformats.org/officeDocument/2006/relationships/image" Target="../media/image1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bin"/><Relationship Id="rId5" Type="http://schemas.openxmlformats.org/officeDocument/2006/relationships/image" Target="../media/image10.bin"/><Relationship Id="rId4" Type="http://schemas.openxmlformats.org/officeDocument/2006/relationships/image" Target="../media/image9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400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FF9A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Fault-Tolerant Flash ADC Architecture for Edge IoT Devices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285750" y="2543175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Submitted by: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3071813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 Pranav.M (2310040008)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85750" y="3400425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 Rohan.M (2310040010)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85750" y="37290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 Rizwan (2310040027)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85750" y="4057650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 Sayooj (2310040095)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85750" y="4672013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 the guidance of: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285750" y="5200650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Dr. Ngangbam Phalguni Singh and Dr. Vijay Rao Kumbhare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171867" y="5539978"/>
            <a:ext cx="480026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Department of Electronics and Communication Engineering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864700" y="5797153"/>
            <a:ext cx="341460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Koneru Lakshmaiah Education Foundation 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9A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Introduction: ADCs in IoT and Edge Devices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857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Internet of Things (IoT) demands low-power, reliable data converters for edge devices. Analog-to-Digital Converters (ADCs) are crucial interfaces for digital processing units, as sensors produce analog signals. 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285750" y="1528763"/>
            <a:ext cx="3857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ADCs Matter in IoT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28625" y="1893094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Bridge between analog sensors and digital processors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428625" y="2164556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Enable local signal processing at the edge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428625" y="2436019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Critical for real-time decision making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428625" y="2707481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Directly impact system reliability and accuracy</a:t>
            </a:r>
            <a:endParaRPr lang="en-US" sz="1046" dirty="0"/>
          </a:p>
        </p:txBody>
      </p:sp>
      <p:sp>
        <p:nvSpPr>
          <p:cNvPr id="10" name="Shape 7"/>
          <p:cNvSpPr/>
          <p:nvPr/>
        </p:nvSpPr>
        <p:spPr>
          <a:xfrm>
            <a:off x="285750" y="3064669"/>
            <a:ext cx="3857625" cy="1678781"/>
          </a:xfrm>
          <a:prstGeom prst="rect">
            <a:avLst/>
          </a:prstGeom>
          <a:solidFill>
            <a:srgbClr val="B5EAD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85750" y="3064669"/>
            <a:ext cx="28575" cy="1678781"/>
          </a:xfrm>
          <a:prstGeom prst="rect">
            <a:avLst/>
          </a:prstGeom>
          <a:solidFill>
            <a:srgbClr val="B5EA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92906" y="3171825"/>
            <a:ext cx="36433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Challenges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35781" y="3536156"/>
            <a:ext cx="3500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Power constraints in battery-operated devices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535781" y="3807619"/>
            <a:ext cx="3500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Balancing speed, resolution, and power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535781" y="4079081"/>
            <a:ext cx="3500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Reliability under varying environmental conditions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535781" y="4350544"/>
            <a:ext cx="3500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Compact size for integration in small devices</a:t>
            </a:r>
            <a:endParaRPr lang="en-US" sz="104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9A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ADC Roles and Requirements in IoT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8572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IoT edge devices interface with diverse sensors, converting analog signals under strict resource constraints.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285750" y="1157288"/>
            <a:ext cx="4214813" cy="1035844"/>
          </a:xfrm>
          <a:prstGeom prst="rect">
            <a:avLst/>
          </a:prstGeom>
          <a:solidFill>
            <a:srgbClr val="B5EAD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85750" y="1157288"/>
            <a:ext cx="28575" cy="1035844"/>
          </a:xfrm>
          <a:prstGeom prst="rect">
            <a:avLst/>
          </a:prstGeom>
          <a:solidFill>
            <a:srgbClr val="B5EAD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1307306"/>
            <a:ext cx="192881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2906" y="1557338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Ultra-low Power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92906" y="1885950"/>
            <a:ext cx="400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Essential for battery-powered or energy-harvested devices. </a:t>
            </a:r>
            <a:endParaRPr lang="en-US" sz="1046" dirty="0"/>
          </a:p>
        </p:txBody>
      </p:sp>
      <p:sp>
        <p:nvSpPr>
          <p:cNvPr id="10" name="Shape 6"/>
          <p:cNvSpPr/>
          <p:nvPr/>
        </p:nvSpPr>
        <p:spPr>
          <a:xfrm>
            <a:off x="4643438" y="1157288"/>
            <a:ext cx="4214813" cy="1035844"/>
          </a:xfrm>
          <a:prstGeom prst="rect">
            <a:avLst/>
          </a:prstGeom>
          <a:solidFill>
            <a:srgbClr val="B5EAD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643438" y="1157288"/>
            <a:ext cx="28575" cy="1035844"/>
          </a:xfrm>
          <a:prstGeom prst="rect">
            <a:avLst/>
          </a:prstGeom>
          <a:solidFill>
            <a:srgbClr val="B5EAD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594" y="1307306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50594" y="1557338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Sufficient Resolution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750594" y="1885950"/>
            <a:ext cx="400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Accuracy tailored to sensor type and application needs. </a:t>
            </a:r>
            <a:endParaRPr lang="en-US" sz="1046" dirty="0"/>
          </a:p>
        </p:txBody>
      </p:sp>
      <p:sp>
        <p:nvSpPr>
          <p:cNvPr id="15" name="Shape 10"/>
          <p:cNvSpPr/>
          <p:nvPr/>
        </p:nvSpPr>
        <p:spPr>
          <a:xfrm>
            <a:off x="285750" y="2336006"/>
            <a:ext cx="4214813" cy="1035844"/>
          </a:xfrm>
          <a:prstGeom prst="rect">
            <a:avLst/>
          </a:prstGeom>
          <a:solidFill>
            <a:srgbClr val="B5EAD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285750" y="2336006"/>
            <a:ext cx="28575" cy="1035844"/>
          </a:xfrm>
          <a:prstGeom prst="rect">
            <a:avLst/>
          </a:prstGeom>
          <a:solidFill>
            <a:srgbClr val="B5EAD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2486025"/>
            <a:ext cx="192881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92906" y="2736056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Sampling Rate &amp; Latency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392906" y="3064669"/>
            <a:ext cx="400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Optimized for specific application demands. </a:t>
            </a:r>
            <a:endParaRPr lang="en-US" sz="1046" dirty="0"/>
          </a:p>
        </p:txBody>
      </p:sp>
      <p:sp>
        <p:nvSpPr>
          <p:cNvPr id="20" name="Shape 14"/>
          <p:cNvSpPr/>
          <p:nvPr/>
        </p:nvSpPr>
        <p:spPr>
          <a:xfrm>
            <a:off x="4643438" y="2336006"/>
            <a:ext cx="4214813" cy="1035844"/>
          </a:xfrm>
          <a:prstGeom prst="rect">
            <a:avLst/>
          </a:prstGeom>
          <a:solidFill>
            <a:srgbClr val="B5EAD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643438" y="2336006"/>
            <a:ext cx="28575" cy="1035844"/>
          </a:xfrm>
          <a:prstGeom prst="rect">
            <a:avLst/>
          </a:prstGeom>
          <a:solidFill>
            <a:srgbClr val="B5EAD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594" y="2486025"/>
            <a:ext cx="171450" cy="1714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50594" y="2736056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 Cost &amp; Compact Area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4750594" y="3064669"/>
            <a:ext cx="400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Critical for mass-produced IoT devices. </a:t>
            </a:r>
            <a:endParaRPr lang="en-US" sz="104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436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9A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Comparative Analysis of ADC Architectures for IoT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1171575"/>
            <a:ext cx="844246" cy="342900"/>
          </a:xfrm>
          <a:prstGeom prst="rect">
            <a:avLst/>
          </a:prstGeom>
          <a:solidFill>
            <a:srgbClr val="B5EAD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85750" y="1171575"/>
            <a:ext cx="844246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Architecture</a:t>
            </a:r>
            <a:endParaRPr lang="en-US" sz="837" dirty="0"/>
          </a:p>
        </p:txBody>
      </p:sp>
      <p:sp>
        <p:nvSpPr>
          <p:cNvPr id="6" name="Shape 3"/>
          <p:cNvSpPr/>
          <p:nvPr/>
        </p:nvSpPr>
        <p:spPr>
          <a:xfrm>
            <a:off x="1129996" y="1171575"/>
            <a:ext cx="753694" cy="342900"/>
          </a:xfrm>
          <a:prstGeom prst="rect">
            <a:avLst/>
          </a:prstGeom>
          <a:solidFill>
            <a:srgbClr val="B5EAD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29996" y="1171575"/>
            <a:ext cx="753694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Resolution</a:t>
            </a:r>
            <a:endParaRPr lang="en-US" sz="837" dirty="0"/>
          </a:p>
        </p:txBody>
      </p:sp>
      <p:sp>
        <p:nvSpPr>
          <p:cNvPr id="8" name="Shape 5"/>
          <p:cNvSpPr/>
          <p:nvPr/>
        </p:nvSpPr>
        <p:spPr>
          <a:xfrm>
            <a:off x="1883690" y="1171575"/>
            <a:ext cx="693809" cy="342900"/>
          </a:xfrm>
          <a:prstGeom prst="rect">
            <a:avLst/>
          </a:prstGeom>
          <a:solidFill>
            <a:srgbClr val="B5EAD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883690" y="1171575"/>
            <a:ext cx="693809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Speed</a:t>
            </a:r>
            <a:endParaRPr lang="en-US" sz="837" dirty="0"/>
          </a:p>
        </p:txBody>
      </p:sp>
      <p:sp>
        <p:nvSpPr>
          <p:cNvPr id="10" name="Shape 7"/>
          <p:cNvSpPr/>
          <p:nvPr/>
        </p:nvSpPr>
        <p:spPr>
          <a:xfrm>
            <a:off x="2577498" y="1171575"/>
            <a:ext cx="1553905" cy="342900"/>
          </a:xfrm>
          <a:prstGeom prst="rect">
            <a:avLst/>
          </a:prstGeom>
          <a:solidFill>
            <a:srgbClr val="B5EAD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77498" y="1171575"/>
            <a:ext cx="1553905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Power</a:t>
            </a:r>
            <a:endParaRPr lang="en-US" sz="837" dirty="0"/>
          </a:p>
        </p:txBody>
      </p:sp>
      <p:sp>
        <p:nvSpPr>
          <p:cNvPr id="12" name="Shape 9"/>
          <p:cNvSpPr/>
          <p:nvPr/>
        </p:nvSpPr>
        <p:spPr>
          <a:xfrm>
            <a:off x="4131404" y="1171575"/>
            <a:ext cx="1367470" cy="342900"/>
          </a:xfrm>
          <a:prstGeom prst="rect">
            <a:avLst/>
          </a:prstGeom>
          <a:solidFill>
            <a:srgbClr val="B5EAD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131404" y="1171575"/>
            <a:ext cx="1367470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Strengths</a:t>
            </a:r>
            <a:endParaRPr lang="en-US" sz="837" dirty="0"/>
          </a:p>
        </p:txBody>
      </p:sp>
      <p:sp>
        <p:nvSpPr>
          <p:cNvPr id="14" name="Shape 11"/>
          <p:cNvSpPr/>
          <p:nvPr/>
        </p:nvSpPr>
        <p:spPr>
          <a:xfrm>
            <a:off x="5498874" y="1171575"/>
            <a:ext cx="1752423" cy="342900"/>
          </a:xfrm>
          <a:prstGeom prst="rect">
            <a:avLst/>
          </a:prstGeom>
          <a:solidFill>
            <a:srgbClr val="B5EAD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98874" y="1171575"/>
            <a:ext cx="1752423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Limitations</a:t>
            </a:r>
            <a:endParaRPr lang="en-US" sz="837" dirty="0"/>
          </a:p>
        </p:txBody>
      </p:sp>
      <p:sp>
        <p:nvSpPr>
          <p:cNvPr id="16" name="Shape 13"/>
          <p:cNvSpPr/>
          <p:nvPr/>
        </p:nvSpPr>
        <p:spPr>
          <a:xfrm>
            <a:off x="7251297" y="1171575"/>
            <a:ext cx="1606953" cy="342900"/>
          </a:xfrm>
          <a:prstGeom prst="rect">
            <a:avLst/>
          </a:prstGeom>
          <a:solidFill>
            <a:srgbClr val="B5EAD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51297" y="1171575"/>
            <a:ext cx="1606953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IoT Suitability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371475" y="1693069"/>
            <a:ext cx="2099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B5EAD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SAR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1129996" y="1514475"/>
            <a:ext cx="753694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8-12 bits</a:t>
            </a:r>
            <a:endParaRPr lang="en-US" sz="837" dirty="0"/>
          </a:p>
        </p:txBody>
      </p:sp>
      <p:sp>
        <p:nvSpPr>
          <p:cNvPr id="20" name="Text 17"/>
          <p:cNvSpPr/>
          <p:nvPr/>
        </p:nvSpPr>
        <p:spPr>
          <a:xfrm>
            <a:off x="1883690" y="1514475"/>
            <a:ext cx="693809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Moderate</a:t>
            </a:r>
            <a:endParaRPr lang="en-US" sz="837" dirty="0"/>
          </a:p>
        </p:txBody>
      </p:sp>
      <p:sp>
        <p:nvSpPr>
          <p:cNvPr id="21" name="Text 18"/>
          <p:cNvSpPr/>
          <p:nvPr/>
        </p:nvSpPr>
        <p:spPr>
          <a:xfrm>
            <a:off x="2577498" y="1514475"/>
            <a:ext cx="1553905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4131404" y="1514475"/>
            <a:ext cx="1367470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Balanced performance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5498874" y="1514475"/>
            <a:ext cx="1752423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Limited for high precision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7251297" y="1514475"/>
            <a:ext cx="1606953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Most common in IoT nodes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371475" y="2128838"/>
            <a:ext cx="6653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B5EAD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Sigma-Delta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1129996" y="2032397"/>
            <a:ext cx="753694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16-24 bits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1883690" y="2032397"/>
            <a:ext cx="693809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</a:t>
            </a:r>
            <a:endParaRPr lang="en-US" sz="837" dirty="0"/>
          </a:p>
        </p:txBody>
      </p:sp>
      <p:sp>
        <p:nvSpPr>
          <p:cNvPr id="28" name="Text 25"/>
          <p:cNvSpPr/>
          <p:nvPr/>
        </p:nvSpPr>
        <p:spPr>
          <a:xfrm>
            <a:off x="2577498" y="2032397"/>
            <a:ext cx="1553905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Medium</a:t>
            </a:r>
            <a:endParaRPr lang="en-US" sz="837" dirty="0"/>
          </a:p>
        </p:txBody>
      </p:sp>
      <p:sp>
        <p:nvSpPr>
          <p:cNvPr id="29" name="Text 26"/>
          <p:cNvSpPr/>
          <p:nvPr/>
        </p:nvSpPr>
        <p:spPr>
          <a:xfrm>
            <a:off x="4131404" y="2032397"/>
            <a:ext cx="1367470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Excellent accuracy</a:t>
            </a:r>
            <a:endParaRPr lang="en-US" sz="837" dirty="0"/>
          </a:p>
        </p:txBody>
      </p:sp>
      <p:sp>
        <p:nvSpPr>
          <p:cNvPr id="30" name="Text 27"/>
          <p:cNvSpPr/>
          <p:nvPr/>
        </p:nvSpPr>
        <p:spPr>
          <a:xfrm>
            <a:off x="5498874" y="2032397"/>
            <a:ext cx="1752423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Too slow for fast signals</a:t>
            </a:r>
            <a:endParaRPr lang="en-US" sz="837" dirty="0"/>
          </a:p>
        </p:txBody>
      </p:sp>
      <p:sp>
        <p:nvSpPr>
          <p:cNvPr id="31" name="Text 28"/>
          <p:cNvSpPr/>
          <p:nvPr/>
        </p:nvSpPr>
        <p:spPr>
          <a:xfrm>
            <a:off x="7251297" y="2032397"/>
            <a:ext cx="1606953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Medical &amp; environmental</a:t>
            </a:r>
            <a:endParaRPr lang="en-US" sz="837" dirty="0"/>
          </a:p>
        </p:txBody>
      </p:sp>
      <p:sp>
        <p:nvSpPr>
          <p:cNvPr id="32" name="Text 29"/>
          <p:cNvSpPr/>
          <p:nvPr/>
        </p:nvSpPr>
        <p:spPr>
          <a:xfrm>
            <a:off x="371475" y="2564606"/>
            <a:ext cx="2843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B5EAD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Flash</a:t>
            </a:r>
            <a:endParaRPr lang="en-US" sz="837" dirty="0"/>
          </a:p>
        </p:txBody>
      </p:sp>
      <p:sp>
        <p:nvSpPr>
          <p:cNvPr id="33" name="Text 30"/>
          <p:cNvSpPr/>
          <p:nvPr/>
        </p:nvSpPr>
        <p:spPr>
          <a:xfrm>
            <a:off x="1129996" y="2382441"/>
            <a:ext cx="753694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3-4 bits</a:t>
            </a:r>
            <a:endParaRPr lang="en-US" sz="837" dirty="0"/>
          </a:p>
        </p:txBody>
      </p:sp>
      <p:sp>
        <p:nvSpPr>
          <p:cNvPr id="34" name="Text 31"/>
          <p:cNvSpPr/>
          <p:nvPr/>
        </p:nvSpPr>
        <p:spPr>
          <a:xfrm>
            <a:off x="1883690" y="2382441"/>
            <a:ext cx="693809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Very High</a:t>
            </a:r>
            <a:endParaRPr lang="en-US" sz="837" dirty="0"/>
          </a:p>
        </p:txBody>
      </p:sp>
      <p:sp>
        <p:nvSpPr>
          <p:cNvPr id="35" name="Text 32"/>
          <p:cNvSpPr/>
          <p:nvPr/>
        </p:nvSpPr>
        <p:spPr>
          <a:xfrm>
            <a:off x="2577498" y="2382441"/>
            <a:ext cx="1553905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(low-bit manageable)</a:t>
            </a:r>
            <a:endParaRPr lang="en-US" sz="837" dirty="0"/>
          </a:p>
        </p:txBody>
      </p:sp>
      <p:sp>
        <p:nvSpPr>
          <p:cNvPr id="36" name="Text 33"/>
          <p:cNvSpPr/>
          <p:nvPr/>
        </p:nvSpPr>
        <p:spPr>
          <a:xfrm>
            <a:off x="4131404" y="2382441"/>
            <a:ext cx="1367470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Ultra-fast conversion</a:t>
            </a:r>
            <a:endParaRPr lang="en-US" sz="837" dirty="0"/>
          </a:p>
        </p:txBody>
      </p:sp>
      <p:sp>
        <p:nvSpPr>
          <p:cNvPr id="37" name="Text 34"/>
          <p:cNvSpPr/>
          <p:nvPr/>
        </p:nvSpPr>
        <p:spPr>
          <a:xfrm>
            <a:off x="5498874" y="2382441"/>
            <a:ext cx="1752423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Impractical for high resolution</a:t>
            </a:r>
            <a:endParaRPr lang="en-US" sz="837" dirty="0"/>
          </a:p>
        </p:txBody>
      </p:sp>
      <p:sp>
        <p:nvSpPr>
          <p:cNvPr id="38" name="Text 35"/>
          <p:cNvSpPr/>
          <p:nvPr/>
        </p:nvSpPr>
        <p:spPr>
          <a:xfrm>
            <a:off x="7251297" y="2382441"/>
            <a:ext cx="1606953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Edge event detection</a:t>
            </a:r>
            <a:endParaRPr lang="en-US" sz="837" dirty="0"/>
          </a:p>
        </p:txBody>
      </p:sp>
      <p:sp>
        <p:nvSpPr>
          <p:cNvPr id="39" name="Text 36"/>
          <p:cNvSpPr/>
          <p:nvPr/>
        </p:nvSpPr>
        <p:spPr>
          <a:xfrm>
            <a:off x="371475" y="3000375"/>
            <a:ext cx="4368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B5EAD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</a:t>
            </a:r>
            <a:endParaRPr lang="en-US" sz="837" dirty="0"/>
          </a:p>
        </p:txBody>
      </p:sp>
      <p:sp>
        <p:nvSpPr>
          <p:cNvPr id="40" name="Text 37"/>
          <p:cNvSpPr/>
          <p:nvPr/>
        </p:nvSpPr>
        <p:spPr>
          <a:xfrm>
            <a:off x="1129996" y="2903934"/>
            <a:ext cx="753694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8-12 bits</a:t>
            </a:r>
            <a:endParaRPr lang="en-US" sz="837" dirty="0"/>
          </a:p>
        </p:txBody>
      </p:sp>
      <p:sp>
        <p:nvSpPr>
          <p:cNvPr id="41" name="Text 38"/>
          <p:cNvSpPr/>
          <p:nvPr/>
        </p:nvSpPr>
        <p:spPr>
          <a:xfrm>
            <a:off x="1883690" y="2903934"/>
            <a:ext cx="693809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</a:t>
            </a:r>
            <a:endParaRPr lang="en-US" sz="837" dirty="0"/>
          </a:p>
        </p:txBody>
      </p:sp>
      <p:sp>
        <p:nvSpPr>
          <p:cNvPr id="42" name="Text 39"/>
          <p:cNvSpPr/>
          <p:nvPr/>
        </p:nvSpPr>
        <p:spPr>
          <a:xfrm>
            <a:off x="2577498" y="2903934"/>
            <a:ext cx="1553905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</a:t>
            </a:r>
            <a:endParaRPr lang="en-US" sz="837" dirty="0"/>
          </a:p>
        </p:txBody>
      </p:sp>
      <p:sp>
        <p:nvSpPr>
          <p:cNvPr id="43" name="Text 40"/>
          <p:cNvSpPr/>
          <p:nvPr/>
        </p:nvSpPr>
        <p:spPr>
          <a:xfrm>
            <a:off x="4131404" y="2903934"/>
            <a:ext cx="1367470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Higher bandwidth</a:t>
            </a:r>
            <a:endParaRPr lang="en-US" sz="837" dirty="0"/>
          </a:p>
        </p:txBody>
      </p:sp>
      <p:sp>
        <p:nvSpPr>
          <p:cNvPr id="44" name="Text 41"/>
          <p:cNvSpPr/>
          <p:nvPr/>
        </p:nvSpPr>
        <p:spPr>
          <a:xfrm>
            <a:off x="5498874" y="2903934"/>
            <a:ext cx="1752423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Complex, power-hungry</a:t>
            </a:r>
            <a:endParaRPr lang="en-US" sz="837" dirty="0"/>
          </a:p>
        </p:txBody>
      </p:sp>
      <p:sp>
        <p:nvSpPr>
          <p:cNvPr id="45" name="Text 42"/>
          <p:cNvSpPr/>
          <p:nvPr/>
        </p:nvSpPr>
        <p:spPr>
          <a:xfrm>
            <a:off x="7251297" y="2903934"/>
            <a:ext cx="1606953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Rare in IoT (comms/vision)</a:t>
            </a:r>
            <a:endParaRPr lang="en-US" sz="837" dirty="0"/>
          </a:p>
        </p:txBody>
      </p:sp>
      <p:sp>
        <p:nvSpPr>
          <p:cNvPr id="47" name="Text 43"/>
          <p:cNvSpPr/>
          <p:nvPr/>
        </p:nvSpPr>
        <p:spPr>
          <a:xfrm>
            <a:off x="285750" y="5457825"/>
            <a:ext cx="857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i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Flash ADCs offer the highest speed but are typically limited to low resolution applications, making them ideal for event detection in IoT edge devices. </a:t>
            </a:r>
            <a:endParaRPr lang="en-US" sz="104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9A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Motivation for Low-Bit Flash ADCs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857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 immediate event detection or threshold monitoring, high-speed conversion is prioritized over high resolution. Flash ADCs are ideal due to their near-instantaneous conversion, especially at low resolutions (3-4 bits). 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285750" y="1528763"/>
            <a:ext cx="3857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Flash ADCs for IoT Edge?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921669"/>
            <a:ext cx="85725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2913" y="1893094"/>
            <a:ext cx="21486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Single-step conversion with zero latency</a:t>
            </a:r>
            <a:endParaRPr lang="en-US" sz="837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178844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1488" y="2150269"/>
            <a:ext cx="31893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Low-bit designs (3-4 bits) keep power and area manageable</a:t>
            </a:r>
            <a:endParaRPr lang="en-US" sz="837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2436019"/>
            <a:ext cx="128588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5775" y="2407444"/>
            <a:ext cx="25002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Ideal for biomedical signal threshold detection</a:t>
            </a:r>
            <a:endParaRPr lang="en-US" sz="837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" y="2693194"/>
            <a:ext cx="128588" cy="1143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85775" y="2664619"/>
            <a:ext cx="20764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Critical for industrial safety monitoring</a:t>
            </a:r>
            <a:endParaRPr lang="en-US" sz="837" dirty="0"/>
          </a:p>
        </p:txBody>
      </p:sp>
      <p:sp>
        <p:nvSpPr>
          <p:cNvPr id="14" name="Shape 7"/>
          <p:cNvSpPr/>
          <p:nvPr/>
        </p:nvSpPr>
        <p:spPr>
          <a:xfrm>
            <a:off x="285750" y="2978944"/>
            <a:ext cx="3857625" cy="1678781"/>
          </a:xfrm>
          <a:prstGeom prst="rect">
            <a:avLst/>
          </a:prstGeom>
          <a:solidFill>
            <a:srgbClr val="B5EAD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285750" y="2978944"/>
            <a:ext cx="28575" cy="1678781"/>
          </a:xfrm>
          <a:prstGeom prst="rect">
            <a:avLst/>
          </a:prstGeom>
          <a:solidFill>
            <a:srgbClr val="B5EA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/>
          <p:nvPr/>
        </p:nvSpPr>
        <p:spPr>
          <a:xfrm>
            <a:off x="392906" y="3086100"/>
            <a:ext cx="36433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Applications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535781" y="3450431"/>
            <a:ext cx="3500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Event detection in wearables</a:t>
            </a:r>
            <a:endParaRPr lang="en-US" sz="1046" dirty="0"/>
          </a:p>
        </p:txBody>
      </p:sp>
      <p:sp>
        <p:nvSpPr>
          <p:cNvPr id="18" name="Text 11"/>
          <p:cNvSpPr/>
          <p:nvPr/>
        </p:nvSpPr>
        <p:spPr>
          <a:xfrm>
            <a:off x="535781" y="3721894"/>
            <a:ext cx="3500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Voltage glitch monitoring</a:t>
            </a:r>
            <a:endParaRPr lang="en-US" sz="1046" dirty="0"/>
          </a:p>
        </p:txBody>
      </p:sp>
      <p:sp>
        <p:nvSpPr>
          <p:cNvPr id="19" name="Text 12"/>
          <p:cNvSpPr/>
          <p:nvPr/>
        </p:nvSpPr>
        <p:spPr>
          <a:xfrm>
            <a:off x="535781" y="3993356"/>
            <a:ext cx="3500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Trigger circuits for higher-resolution ADCs</a:t>
            </a:r>
            <a:endParaRPr lang="en-US" sz="1046" dirty="0"/>
          </a:p>
        </p:txBody>
      </p:sp>
      <p:sp>
        <p:nvSpPr>
          <p:cNvPr id="20" name="Text 13"/>
          <p:cNvSpPr/>
          <p:nvPr/>
        </p:nvSpPr>
        <p:spPr>
          <a:xfrm>
            <a:off x="535781" y="4264819"/>
            <a:ext cx="3500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threshold crossing detection</a:t>
            </a:r>
            <a:endParaRPr lang="en-US" sz="104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006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9A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 Statement: Speed + Fault Detection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857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Edge devices face varying conditions like supply noise and temperature changes. Conventional Flash ADCs can fail under reference drift.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285750" y="1671638"/>
            <a:ext cx="4286250" cy="1893094"/>
          </a:xfrm>
          <a:prstGeom prst="rect">
            <a:avLst/>
          </a:prstGeom>
          <a:solidFill>
            <a:srgbClr val="FF9AA2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85750" y="1671638"/>
            <a:ext cx="28575" cy="1893094"/>
          </a:xfrm>
          <a:prstGeom prst="rect">
            <a:avLst/>
          </a:prstGeom>
          <a:solidFill>
            <a:srgbClr val="FF9A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92906" y="1778794"/>
            <a:ext cx="40719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Challenges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35781" y="2143125"/>
            <a:ext cx="3929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Flash ADCs are vulnerable to reference voltage drift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535781" y="2414588"/>
            <a:ext cx="39290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Comparator mismatches lead to incorrect thermometer codes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535781" y="2900363"/>
            <a:ext cx="3929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Unpredictable operating environments at the edge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535781" y="3171825"/>
            <a:ext cx="3929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Conventional designs lack built-in fault tolerance</a:t>
            </a:r>
            <a:endParaRPr lang="en-US" sz="1046" dirty="0"/>
          </a:p>
        </p:txBody>
      </p:sp>
      <p:sp>
        <p:nvSpPr>
          <p:cNvPr id="12" name="Shape 9"/>
          <p:cNvSpPr/>
          <p:nvPr/>
        </p:nvSpPr>
        <p:spPr>
          <a:xfrm>
            <a:off x="285750" y="3707606"/>
            <a:ext cx="4286250" cy="1507331"/>
          </a:xfrm>
          <a:prstGeom prst="rect">
            <a:avLst/>
          </a:prstGeom>
          <a:solidFill>
            <a:srgbClr val="B5EAD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85750" y="3707606"/>
            <a:ext cx="28575" cy="1507331"/>
          </a:xfrm>
          <a:prstGeom prst="rect">
            <a:avLst/>
          </a:prstGeom>
          <a:solidFill>
            <a:srgbClr val="B5EA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92906" y="3814763"/>
            <a:ext cx="40719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Proposed Solution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92906" y="4179094"/>
            <a:ext cx="407193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solution balancing speed, low power, and robustness against reference faults is needed. Our approach integrates fault detection directly into the ADC architecture to ensure reliable operation even under non-ideal conditions. </a:t>
            </a:r>
            <a:endParaRPr lang="en-US" sz="104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941775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218880" y="0"/>
            <a:ext cx="3925119" cy="5143500"/>
          </a:xfrm>
          <a:prstGeom prst="rect">
            <a:avLst/>
          </a:prstGeom>
        </p:spPr>
      </p:pic>
      <p:sp>
        <p:nvSpPr>
          <p:cNvPr id="1577381791" name="Text 0"/>
          <p:cNvSpPr/>
          <p:nvPr/>
        </p:nvSpPr>
        <p:spPr bwMode="auto">
          <a:xfrm>
            <a:off x="496119" y="96113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69"/>
              </a:lnSpc>
              <a:defRPr/>
            </a:pPr>
            <a:r>
              <a:rPr lang="en-US" sz="2781">
                <a:solidFill>
                  <a:srgbClr val="FA95AF"/>
                </a:solidFill>
                <a:latin typeface="Anton"/>
                <a:ea typeface="Anton"/>
                <a:cs typeface="Anton"/>
              </a:rPr>
              <a:t>System-Level Overview: 3-bit Flash ADC</a:t>
            </a:r>
            <a:endParaRPr lang="en-US" sz="2781"/>
          </a:p>
        </p:txBody>
      </p:sp>
      <p:sp>
        <p:nvSpPr>
          <p:cNvPr id="2092568421" name="Text 1"/>
          <p:cNvSpPr/>
          <p:nvPr/>
        </p:nvSpPr>
        <p:spPr bwMode="auto">
          <a:xfrm>
            <a:off x="496119" y="205970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  <a:defRPr/>
            </a:pPr>
            <a:r>
              <a:rPr lang="en-US" sz="1094">
                <a:solidFill>
                  <a:srgbClr val="E0D6DE"/>
                </a:solidFill>
                <a:latin typeface="Fira Sans"/>
                <a:ea typeface="Fira Sans"/>
                <a:cs typeface="Fira Sans"/>
              </a:rPr>
              <a:t>The proposed 3-bit Flash ADC system processes analog input, converts it to binary, and includes a fault detection mechanism.</a:t>
            </a:r>
            <a:endParaRPr lang="en-US" sz="1094"/>
          </a:p>
        </p:txBody>
      </p:sp>
      <p:sp>
        <p:nvSpPr>
          <p:cNvPr id="1636558936" name="Text 2"/>
          <p:cNvSpPr/>
          <p:nvPr/>
        </p:nvSpPr>
        <p:spPr bwMode="auto">
          <a:xfrm>
            <a:off x="496119" y="267280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781"/>
              </a:lnSpc>
              <a:buSzPct val="100000"/>
              <a:buChar char="•"/>
              <a:defRPr/>
            </a:pPr>
            <a:r>
              <a:rPr lang="en-US" sz="1094">
                <a:solidFill>
                  <a:srgbClr val="E0D6DE"/>
                </a:solidFill>
                <a:latin typeface="Fira Sans"/>
                <a:ea typeface="Fira Sans"/>
                <a:cs typeface="Fira Sans"/>
              </a:rPr>
              <a:t>Input analog voltage (Vin) is compared against reference ladder points.</a:t>
            </a:r>
            <a:endParaRPr lang="en-US" sz="1094"/>
          </a:p>
        </p:txBody>
      </p:sp>
      <p:sp>
        <p:nvSpPr>
          <p:cNvPr id="1682324221" name="Text 3"/>
          <p:cNvSpPr/>
          <p:nvPr/>
        </p:nvSpPr>
        <p:spPr bwMode="auto">
          <a:xfrm>
            <a:off x="496119" y="3175993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781"/>
              </a:lnSpc>
              <a:buSzPct val="100000"/>
              <a:buChar char="•"/>
              <a:defRPr/>
            </a:pPr>
            <a:r>
              <a:rPr lang="en-US" sz="1094">
                <a:solidFill>
                  <a:srgbClr val="E0D6DE"/>
                </a:solidFill>
                <a:latin typeface="Fira Sans"/>
                <a:ea typeface="Fira Sans"/>
                <a:cs typeface="Fira Sans"/>
              </a:rPr>
              <a:t>Comparator outputs form thermometer code.</a:t>
            </a:r>
            <a:endParaRPr lang="en-US" sz="1094"/>
          </a:p>
        </p:txBody>
      </p:sp>
      <p:sp>
        <p:nvSpPr>
          <p:cNvPr id="1733376912" name="Text 4"/>
          <p:cNvSpPr/>
          <p:nvPr/>
        </p:nvSpPr>
        <p:spPr bwMode="auto">
          <a:xfrm>
            <a:off x="496119" y="3452367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781"/>
              </a:lnSpc>
              <a:buSzPct val="100000"/>
              <a:buChar char="•"/>
              <a:defRPr/>
            </a:pPr>
            <a:r>
              <a:rPr lang="en-US" sz="1094">
                <a:solidFill>
                  <a:srgbClr val="E0D6DE"/>
                </a:solidFill>
                <a:latin typeface="Fira Sans"/>
                <a:ea typeface="Fira Sans"/>
                <a:cs typeface="Fira Sans"/>
              </a:rPr>
              <a:t>Encoder block converts thermometer to binary.</a:t>
            </a:r>
            <a:endParaRPr lang="en-US" sz="1094"/>
          </a:p>
        </p:txBody>
      </p:sp>
      <p:sp>
        <p:nvSpPr>
          <p:cNvPr id="1787830496" name="Text 5"/>
          <p:cNvSpPr/>
          <p:nvPr/>
        </p:nvSpPr>
        <p:spPr bwMode="auto">
          <a:xfrm>
            <a:off x="496119" y="372874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781"/>
              </a:lnSpc>
              <a:buSzPct val="100000"/>
              <a:buChar char="•"/>
              <a:defRPr/>
            </a:pPr>
            <a:r>
              <a:rPr lang="en-US" sz="1094">
                <a:solidFill>
                  <a:srgbClr val="E0D6DE"/>
                </a:solidFill>
                <a:latin typeface="Fira Sans"/>
                <a:ea typeface="Fira Sans"/>
                <a:cs typeface="Fira Sans"/>
              </a:rPr>
              <a:t>Fault detection monitors Vref and generates an error flag if instability occurs.</a:t>
            </a:r>
            <a:endParaRPr lang="en-US" sz="1094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D4E219-3D85-16FC-2E20-E80A0C69B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879" y="295836"/>
            <a:ext cx="3925119" cy="4551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9A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Objective: Fault-Tolerant 3-bit Flash ADC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857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This project implements a 3-bit Flash ADC in Cadence Virtuoso, built with analog blocks (resistor ladder, comparators, encoder). A fault-detection block monitors the reference voltage (Vref) and flags instability.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285750" y="1528763"/>
            <a:ext cx="4179094" cy="2321719"/>
          </a:xfrm>
          <a:prstGeom prst="rect">
            <a:avLst/>
          </a:prstGeom>
          <a:solidFill>
            <a:srgbClr val="B5EAD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85750" y="1528763"/>
            <a:ext cx="28575" cy="2321719"/>
          </a:xfrm>
          <a:prstGeom prst="rect">
            <a:avLst/>
          </a:prstGeom>
          <a:solidFill>
            <a:srgbClr val="B5EA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8625" y="1671638"/>
            <a:ext cx="387905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3-bit Resolution for IoT?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093119"/>
            <a:ext cx="142875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2938" y="2035969"/>
            <a:ext cx="30233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Keeps comparator count low (7 comparators)</a:t>
            </a:r>
            <a:endParaRPr lang="en-US" sz="1046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414588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2938" y="2357438"/>
            <a:ext cx="321613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Provides fast response with minimal silicon area</a:t>
            </a:r>
            <a:endParaRPr lang="en-US" sz="1046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736056"/>
            <a:ext cx="142875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2938" y="2678906"/>
            <a:ext cx="36647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Sufficient for threshold-based IoT sensing and edge-triggered applications</a:t>
            </a:r>
            <a:endParaRPr lang="en-US" sz="1046" dirty="0"/>
          </a:p>
        </p:txBody>
      </p:sp>
      <p:sp>
        <p:nvSpPr>
          <p:cNvPr id="14" name="Shape 8"/>
          <p:cNvSpPr/>
          <p:nvPr/>
        </p:nvSpPr>
        <p:spPr>
          <a:xfrm>
            <a:off x="4664869" y="1528763"/>
            <a:ext cx="4193381" cy="2321719"/>
          </a:xfrm>
          <a:prstGeom prst="rect">
            <a:avLst/>
          </a:prstGeom>
          <a:solidFill>
            <a:srgbClr val="B5EAD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4664869" y="1528763"/>
            <a:ext cx="28575" cy="2321719"/>
          </a:xfrm>
          <a:prstGeom prst="rect">
            <a:avLst/>
          </a:prstGeom>
          <a:solidFill>
            <a:srgbClr val="B5EA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4822031" y="1671638"/>
            <a:ext cx="38933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Design Advantages</a:t>
            </a:r>
            <a:endParaRPr lang="en-US" sz="13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031" y="2093119"/>
            <a:ext cx="142875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36344" y="2035969"/>
            <a:ext cx="24274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Simplicity: Straightforward structure</a:t>
            </a:r>
            <a:endParaRPr lang="en-US" sz="1046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031" y="2414588"/>
            <a:ext cx="142875" cy="1428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36344" y="2357438"/>
            <a:ext cx="18783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Speed: One-step conversion</a:t>
            </a:r>
            <a:endParaRPr lang="en-US" sz="1046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031" y="2736056"/>
            <a:ext cx="142875" cy="14287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36344" y="2678906"/>
            <a:ext cx="36790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Fault Tolerance: Reference monitoring enhances robustness</a:t>
            </a:r>
            <a:endParaRPr lang="en-US" sz="1046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031" y="3250406"/>
            <a:ext cx="142875" cy="14287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036344" y="3193256"/>
            <a:ext cx="36790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Educational Value: Demonstrates key ADC concepts in a compact design</a:t>
            </a:r>
            <a:endParaRPr lang="en-US" sz="1046" dirty="0"/>
          </a:p>
        </p:txBody>
      </p:sp>
      <p:sp>
        <p:nvSpPr>
          <p:cNvPr id="25" name="Text 15"/>
          <p:cNvSpPr/>
          <p:nvPr/>
        </p:nvSpPr>
        <p:spPr>
          <a:xfrm>
            <a:off x="285750" y="4030861"/>
            <a:ext cx="97057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Primary Goal:</a:t>
            </a:r>
            <a:endParaRPr lang="en-US" sz="1046" dirty="0"/>
          </a:p>
        </p:txBody>
      </p:sp>
      <p:sp>
        <p:nvSpPr>
          <p:cNvPr id="26" name="Text 16"/>
          <p:cNvSpPr/>
          <p:nvPr/>
        </p:nvSpPr>
        <p:spPr>
          <a:xfrm>
            <a:off x="1256323" y="4030861"/>
            <a:ext cx="73230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Design a Flash ADC that preserves ultra-fast latency while adding a layer of robustness traditionally absent in </a:t>
            </a:r>
            <a:endParaRPr lang="en-US" sz="1046" dirty="0"/>
          </a:p>
        </p:txBody>
      </p:sp>
      <p:sp>
        <p:nvSpPr>
          <p:cNvPr id="27" name="Text 17"/>
          <p:cNvSpPr/>
          <p:nvPr/>
        </p:nvSpPr>
        <p:spPr>
          <a:xfrm>
            <a:off x="285750" y="4245173"/>
            <a:ext cx="635908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such designs, making it suitable for IoT edge devices operating in unpredictable environments. </a:t>
            </a:r>
            <a:endParaRPr lang="en-US" sz="104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76323" name="Text 0"/>
          <p:cNvSpPr/>
          <p:nvPr/>
        </p:nvSpPr>
        <p:spPr bwMode="auto">
          <a:xfrm>
            <a:off x="2276894" y="332823"/>
            <a:ext cx="49441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  <a:defRPr/>
            </a:pPr>
            <a:r>
              <a:rPr lang="en-US" sz="2800" dirty="0">
                <a:solidFill>
                  <a:srgbClr val="E0D6DE"/>
                </a:solidFill>
                <a:latin typeface="Fira Sans"/>
                <a:ea typeface="Fira Sans"/>
                <a:cs typeface="Fira Sans"/>
              </a:rPr>
              <a:t>Architecture of 3-bit Flash ADC</a:t>
            </a:r>
            <a:endParaRPr lang="en-US" sz="2781" dirty="0"/>
          </a:p>
        </p:txBody>
      </p:sp>
      <p:sp>
        <p:nvSpPr>
          <p:cNvPr id="1782580686" name="Text 5"/>
          <p:cNvSpPr/>
          <p:nvPr/>
        </p:nvSpPr>
        <p:spPr bwMode="auto">
          <a:xfrm>
            <a:off x="496119" y="4495801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781"/>
              </a:lnSpc>
              <a:buSzPct val="100000"/>
              <a:buChar char="•"/>
              <a:defRPr/>
            </a:pPr>
            <a:endParaRPr lang="en-US" sz="1094" dirty="0"/>
          </a:p>
        </p:txBody>
      </p:sp>
      <p:sp>
        <p:nvSpPr>
          <p:cNvPr id="1822274408" name="Alternative Process 1822274407"/>
          <p:cNvSpPr/>
          <p:nvPr/>
        </p:nvSpPr>
        <p:spPr bwMode="auto">
          <a:xfrm>
            <a:off x="8040189" y="4860551"/>
            <a:ext cx="1051299" cy="210110"/>
          </a:xfrm>
          <a:prstGeom prst="flowChartAlternateProcess">
            <a:avLst/>
          </a:prstGeom>
          <a:solidFill>
            <a:srgbClr val="1F1F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125"/>
          </a:p>
        </p:txBody>
      </p:sp>
      <p:pic>
        <p:nvPicPr>
          <p:cNvPr id="2" name="Image 3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15568" y="968627"/>
            <a:ext cx="3112864" cy="31128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FED610-3B0A-5C05-051A-683D704CCE88}"/>
              </a:ext>
            </a:extLst>
          </p:cNvPr>
          <p:cNvSpPr txBox="1"/>
          <p:nvPr/>
        </p:nvSpPr>
        <p:spPr>
          <a:xfrm>
            <a:off x="3487783" y="261257"/>
            <a:ext cx="1436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Comparator</a:t>
            </a:r>
          </a:p>
        </p:txBody>
      </p:sp>
      <p:sp>
        <p:nvSpPr>
          <p:cNvPr id="1669285043" name="Text 2"/>
          <p:cNvSpPr/>
          <p:nvPr/>
        </p:nvSpPr>
        <p:spPr bwMode="auto">
          <a:xfrm>
            <a:off x="2301785" y="4393551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  <a:buSzPct val="100000"/>
              <a:defRPr/>
            </a:pPr>
            <a:r>
              <a:rPr lang="en-US" sz="1094" dirty="0">
                <a:solidFill>
                  <a:srgbClr val="E0D6DE"/>
                </a:solidFill>
                <a:latin typeface="Fira Sans"/>
                <a:ea typeface="Fira Sans"/>
                <a:cs typeface="Fira Sans"/>
              </a:rPr>
              <a:t>Essential for comparing input voltage with reference levels.</a:t>
            </a:r>
            <a:endParaRPr lang="en-US" sz="1094" dirty="0"/>
          </a:p>
        </p:txBody>
      </p:sp>
      <p:sp>
        <p:nvSpPr>
          <p:cNvPr id="3" name="Alternative Process 1822274407">
            <a:extLst>
              <a:ext uri="{FF2B5EF4-FFF2-40B4-BE49-F238E27FC236}">
                <a16:creationId xmlns:a16="http://schemas.microsoft.com/office/drawing/2014/main" id="{691C1880-1609-1939-15E1-147276B43230}"/>
              </a:ext>
            </a:extLst>
          </p:cNvPr>
          <p:cNvSpPr/>
          <p:nvPr/>
        </p:nvSpPr>
        <p:spPr bwMode="auto">
          <a:xfrm>
            <a:off x="8040189" y="4860551"/>
            <a:ext cx="1051299" cy="210110"/>
          </a:xfrm>
          <a:prstGeom prst="flowChartAlternateProcess">
            <a:avLst/>
          </a:prstGeom>
          <a:solidFill>
            <a:srgbClr val="1F1F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125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6379" y="919275"/>
            <a:ext cx="3304950" cy="3304950"/>
          </a:xfrm>
          <a:prstGeom prst="rect">
            <a:avLst/>
          </a:prstGeom>
        </p:spPr>
      </p:pic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9DA6D41-D511-FC88-5DB1-1246A5615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29" y="1028223"/>
            <a:ext cx="5586846" cy="312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07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44D3CD-555A-DF0D-3FCA-8F92B9CAF901}"/>
              </a:ext>
            </a:extLst>
          </p:cNvPr>
          <p:cNvSpPr txBox="1"/>
          <p:nvPr/>
        </p:nvSpPr>
        <p:spPr>
          <a:xfrm>
            <a:off x="3383280" y="365760"/>
            <a:ext cx="338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0D6DE"/>
                </a:solidFill>
                <a:latin typeface="Fira Sans"/>
                <a:ea typeface="Fira Sans"/>
                <a:cs typeface="Fira Sans"/>
              </a:rPr>
              <a:t>Priority Encoder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BE0582-A538-5F8B-EE93-63861ADAFB6E}"/>
              </a:ext>
            </a:extLst>
          </p:cNvPr>
          <p:cNvSpPr txBox="1"/>
          <p:nvPr/>
        </p:nvSpPr>
        <p:spPr>
          <a:xfrm>
            <a:off x="1881051" y="4300953"/>
            <a:ext cx="8125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E0D6DE"/>
                </a:solidFill>
                <a:latin typeface="Fira Sans"/>
                <a:ea typeface="Fira Sans"/>
                <a:cs typeface="Fira Sans"/>
              </a:rPr>
              <a:t>Converts the thermometer code from comparators into binary output</a:t>
            </a:r>
            <a:endParaRPr lang="en-IN" sz="1200" dirty="0"/>
          </a:p>
        </p:txBody>
      </p:sp>
      <p:sp>
        <p:nvSpPr>
          <p:cNvPr id="4" name="Alternative Process 1822274407">
            <a:extLst>
              <a:ext uri="{FF2B5EF4-FFF2-40B4-BE49-F238E27FC236}">
                <a16:creationId xmlns:a16="http://schemas.microsoft.com/office/drawing/2014/main" id="{6AF97D81-C935-DC2F-0697-658309BA4C71}"/>
              </a:ext>
            </a:extLst>
          </p:cNvPr>
          <p:cNvSpPr/>
          <p:nvPr/>
        </p:nvSpPr>
        <p:spPr bwMode="auto">
          <a:xfrm>
            <a:off x="8040189" y="4860551"/>
            <a:ext cx="1051299" cy="210110"/>
          </a:xfrm>
          <a:prstGeom prst="flowChartAlternateProcess">
            <a:avLst/>
          </a:prstGeom>
          <a:solidFill>
            <a:srgbClr val="1F1F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125"/>
          </a:p>
        </p:txBody>
      </p:sp>
      <p:pic>
        <p:nvPicPr>
          <p:cNvPr id="125633452" name="Image 2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3131" y="940804"/>
            <a:ext cx="3360149" cy="3360149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B8D987-04CC-C678-D3C7-A88612C6F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940" y="940803"/>
            <a:ext cx="5612572" cy="336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495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99"/>
            <a:ext cx="9144000" cy="5140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9A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Flash ADC Architecture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857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Flash ADC (also known as parallel ADC) performs conversion in a single step by comparing the input voltage simultaneously against multiple reference thresholds. 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285750" y="1314450"/>
            <a:ext cx="3429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Components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285750" y="1618569"/>
            <a:ext cx="3429000" cy="878681"/>
          </a:xfrm>
          <a:prstGeom prst="rect">
            <a:avLst/>
          </a:prstGeom>
          <a:solidFill>
            <a:srgbClr val="B5EAD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71475" y="1668576"/>
            <a:ext cx="32575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Resistor Ladder Network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338409" y="1849184"/>
            <a:ext cx="3257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Divides reference voltage into equally spaced thresholds for comparison </a:t>
            </a:r>
            <a:endParaRPr lang="en-US" sz="1046" dirty="0"/>
          </a:p>
        </p:txBody>
      </p:sp>
      <p:sp>
        <p:nvSpPr>
          <p:cNvPr id="10" name="Shape 7"/>
          <p:cNvSpPr/>
          <p:nvPr/>
        </p:nvSpPr>
        <p:spPr>
          <a:xfrm>
            <a:off x="285750" y="2549666"/>
            <a:ext cx="3429000" cy="878681"/>
          </a:xfrm>
          <a:prstGeom prst="rect">
            <a:avLst/>
          </a:prstGeom>
          <a:solidFill>
            <a:srgbClr val="B5EAD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2696" y="2569581"/>
            <a:ext cx="32575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Comparator Array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321184" y="2809127"/>
            <a:ext cx="3257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7 comparators for 3-bit resolution, each comparing input against a reference level </a:t>
            </a:r>
            <a:endParaRPr lang="en-US" sz="1046" dirty="0"/>
          </a:p>
        </p:txBody>
      </p:sp>
      <p:sp>
        <p:nvSpPr>
          <p:cNvPr id="14" name="Shape 11"/>
          <p:cNvSpPr/>
          <p:nvPr/>
        </p:nvSpPr>
        <p:spPr>
          <a:xfrm>
            <a:off x="281259" y="3474285"/>
            <a:ext cx="3429000" cy="878681"/>
          </a:xfrm>
          <a:prstGeom prst="rect">
            <a:avLst/>
          </a:prstGeom>
          <a:solidFill>
            <a:srgbClr val="B5EAD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00037" y="3497581"/>
            <a:ext cx="32575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Thermometer-to-Binary Encoder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321184" y="3786468"/>
            <a:ext cx="3257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Converts thermometer code output from comparators into 3-bit binary code </a:t>
            </a:r>
            <a:endParaRPr lang="en-US" sz="1046" dirty="0"/>
          </a:p>
        </p:txBody>
      </p:sp>
      <p:sp>
        <p:nvSpPr>
          <p:cNvPr id="18" name="Shape 15"/>
          <p:cNvSpPr/>
          <p:nvPr/>
        </p:nvSpPr>
        <p:spPr>
          <a:xfrm>
            <a:off x="281259" y="4368683"/>
            <a:ext cx="3429000" cy="683595"/>
          </a:xfrm>
          <a:prstGeom prst="rect">
            <a:avLst/>
          </a:prstGeom>
          <a:solidFill>
            <a:srgbClr val="B5EAD7">
              <a:alpha val="1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Text 17"/>
          <p:cNvSpPr/>
          <p:nvPr/>
        </p:nvSpPr>
        <p:spPr>
          <a:xfrm>
            <a:off x="352696" y="4395550"/>
            <a:ext cx="32575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Fault Detection Block</a:t>
            </a:r>
            <a:endParaRPr lang="en-US" sz="837" dirty="0"/>
          </a:p>
        </p:txBody>
      </p:sp>
      <p:sp>
        <p:nvSpPr>
          <p:cNvPr id="21" name="Text 18"/>
          <p:cNvSpPr/>
          <p:nvPr/>
        </p:nvSpPr>
        <p:spPr>
          <a:xfrm>
            <a:off x="281259" y="4593867"/>
            <a:ext cx="3257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Monitors reference voltage stability and generates error flag when instability is detected </a:t>
            </a:r>
            <a:endParaRPr lang="en-US" sz="1046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C3D7409-A55E-AFA2-EC04-3B5346294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735" y="1291930"/>
            <a:ext cx="3019647" cy="37764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9A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Fault Detection Mechanism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857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proposed fault detection block continuously monitors the reference voltage ladder for stability and drift, providing an early warning system to prevent erroneous conversions. 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285750" y="1528763"/>
            <a:ext cx="3857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Fault Detection Works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285750" y="1893094"/>
            <a:ext cx="214313" cy="214313"/>
          </a:xfrm>
          <a:prstGeom prst="ellipse">
            <a:avLst/>
          </a:prstGeom>
          <a:solidFill>
            <a:srgbClr val="B5EA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85750" y="189309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607219" y="1914525"/>
            <a:ext cx="267851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monitoring of reference voltage (Vref)</a:t>
            </a:r>
            <a:endParaRPr lang="en-US" sz="837" dirty="0"/>
          </a:p>
        </p:txBody>
      </p:sp>
      <p:sp>
        <p:nvSpPr>
          <p:cNvPr id="9" name="Shape 6"/>
          <p:cNvSpPr/>
          <p:nvPr/>
        </p:nvSpPr>
        <p:spPr>
          <a:xfrm>
            <a:off x="285750" y="2214563"/>
            <a:ext cx="214313" cy="214313"/>
          </a:xfrm>
          <a:prstGeom prst="ellipse">
            <a:avLst/>
          </a:prstGeom>
          <a:solidFill>
            <a:srgbClr val="B5EA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85750" y="2214563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607219" y="2235994"/>
            <a:ext cx="29796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Detection of voltage drift beyond acceptable thresholds</a:t>
            </a:r>
            <a:endParaRPr lang="en-US" sz="837" dirty="0"/>
          </a:p>
        </p:txBody>
      </p:sp>
      <p:sp>
        <p:nvSpPr>
          <p:cNvPr id="12" name="Shape 9"/>
          <p:cNvSpPr/>
          <p:nvPr/>
        </p:nvSpPr>
        <p:spPr>
          <a:xfrm>
            <a:off x="285750" y="2536031"/>
            <a:ext cx="214313" cy="214313"/>
          </a:xfrm>
          <a:prstGeom prst="ellipse">
            <a:avLst/>
          </a:prstGeom>
          <a:solidFill>
            <a:srgbClr val="B5EA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85750" y="2536031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607219" y="2557463"/>
            <a:ext cx="276479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Generation of error flag when instability is detected</a:t>
            </a:r>
            <a:endParaRPr lang="en-US" sz="837" dirty="0"/>
          </a:p>
        </p:txBody>
      </p:sp>
      <p:sp>
        <p:nvSpPr>
          <p:cNvPr id="15" name="Shape 12"/>
          <p:cNvSpPr/>
          <p:nvPr/>
        </p:nvSpPr>
        <p:spPr>
          <a:xfrm>
            <a:off x="285750" y="2857500"/>
            <a:ext cx="214313" cy="214313"/>
          </a:xfrm>
          <a:prstGeom prst="ellipse">
            <a:avLst/>
          </a:prstGeom>
          <a:solidFill>
            <a:srgbClr val="B5EA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85750" y="285750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607219" y="2878931"/>
            <a:ext cx="22662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Prevention of erroneous data propagation</a:t>
            </a:r>
            <a:endParaRPr lang="en-US" sz="837" dirty="0"/>
          </a:p>
        </p:txBody>
      </p:sp>
      <p:sp>
        <p:nvSpPr>
          <p:cNvPr id="18" name="Shape 15"/>
          <p:cNvSpPr/>
          <p:nvPr/>
        </p:nvSpPr>
        <p:spPr>
          <a:xfrm>
            <a:off x="285750" y="3214688"/>
            <a:ext cx="3857625" cy="1435894"/>
          </a:xfrm>
          <a:prstGeom prst="rect">
            <a:avLst/>
          </a:prstGeom>
          <a:solidFill>
            <a:srgbClr val="B5EAD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85750" y="3214688"/>
            <a:ext cx="28575" cy="1435894"/>
          </a:xfrm>
          <a:prstGeom prst="rect">
            <a:avLst/>
          </a:prstGeom>
          <a:solidFill>
            <a:srgbClr val="B5EA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92906" y="3321844"/>
            <a:ext cx="36433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Benefits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35781" y="3686175"/>
            <a:ext cx="3500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Enhances reliability in unstable environments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535781" y="3914775"/>
            <a:ext cx="3500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Prevents false triggers in critical applications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535781" y="4143375"/>
            <a:ext cx="3500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Enables system-level fault handling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535781" y="4371975"/>
            <a:ext cx="3500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Maintains high-speed operation when conditions are stable</a:t>
            </a:r>
            <a:endParaRPr lang="en-US" sz="837" dirty="0"/>
          </a:p>
        </p:txBody>
      </p:sp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740554-88EC-369D-7067-D22206DE2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75" y="1653696"/>
            <a:ext cx="4831131" cy="29389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2DC88144-C698-F080-E35E-C766B0F4E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042" y="736240"/>
            <a:ext cx="7347916" cy="42780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6C39D7-C182-DBC8-F82E-CC2B83308CE2}"/>
              </a:ext>
            </a:extLst>
          </p:cNvPr>
          <p:cNvSpPr txBox="1"/>
          <p:nvPr/>
        </p:nvSpPr>
        <p:spPr>
          <a:xfrm>
            <a:off x="3322674" y="129170"/>
            <a:ext cx="249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Finalized design</a:t>
            </a:r>
          </a:p>
        </p:txBody>
      </p:sp>
    </p:spTree>
    <p:extLst>
      <p:ext uri="{BB962C8B-B14F-4D97-AF65-F5344CB8AC3E}">
        <p14:creationId xmlns:p14="http://schemas.microsoft.com/office/powerpoint/2010/main" val="2908840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9A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Conclusion and Future Work</a:t>
            </a:r>
            <a:endParaRPr lang="en-US" sz="2025" dirty="0"/>
          </a:p>
        </p:txBody>
      </p:sp>
      <p:sp>
        <p:nvSpPr>
          <p:cNvPr id="15" name="Shape 8"/>
          <p:cNvSpPr/>
          <p:nvPr/>
        </p:nvSpPr>
        <p:spPr>
          <a:xfrm>
            <a:off x="285750" y="1753791"/>
            <a:ext cx="8572500" cy="1935956"/>
          </a:xfrm>
          <a:prstGeom prst="rect">
            <a:avLst/>
          </a:prstGeom>
          <a:solidFill>
            <a:srgbClr val="FFDAC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9"/>
          <p:cNvSpPr/>
          <p:nvPr/>
        </p:nvSpPr>
        <p:spPr>
          <a:xfrm>
            <a:off x="285750" y="1753791"/>
            <a:ext cx="71437" cy="1935956"/>
          </a:xfrm>
          <a:prstGeom prst="rect">
            <a:avLst/>
          </a:prstGeom>
          <a:solidFill>
            <a:srgbClr val="FFDA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0"/>
          <p:cNvSpPr/>
          <p:nvPr/>
        </p:nvSpPr>
        <p:spPr>
          <a:xfrm>
            <a:off x="376577" y="1728584"/>
            <a:ext cx="8286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DA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Future Work</a:t>
            </a:r>
            <a:endParaRPr lang="en-US" sz="13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2092915"/>
            <a:ext cx="107156" cy="14287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5781" y="2057195"/>
            <a:ext cx="69700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Explore hybrid architectures combining Flash ADC with SAR or Sigma-Delta for both speed and precision</a:t>
            </a:r>
            <a:endParaRPr lang="en-US" sz="1046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13" y="2391166"/>
            <a:ext cx="107156" cy="14287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5781" y="2328454"/>
            <a:ext cx="45791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advanced fault correction mechanisms beyond detection</a:t>
            </a:r>
            <a:endParaRPr lang="en-US" sz="1046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77" y="2694877"/>
            <a:ext cx="107156" cy="142875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00469" y="2646554"/>
            <a:ext cx="50517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Optimize power consumption further for energy-harvested IoT applications</a:t>
            </a:r>
            <a:endParaRPr lang="en-US" sz="1046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21" y="2980521"/>
            <a:ext cx="107156" cy="142875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35781" y="2940977"/>
            <a:ext cx="45942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Fabricate and test the design in real-world IoT deployment scenarios</a:t>
            </a:r>
            <a:endParaRPr lang="en-US" sz="1046" dirty="0"/>
          </a:p>
        </p:txBody>
      </p:sp>
      <p:sp>
        <p:nvSpPr>
          <p:cNvPr id="26" name="Text 15"/>
          <p:cNvSpPr/>
          <p:nvPr/>
        </p:nvSpPr>
        <p:spPr>
          <a:xfrm>
            <a:off x="285750" y="4900613"/>
            <a:ext cx="8572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9A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Thank You! 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1005</Words>
  <Application>Microsoft Macintosh PowerPoint</Application>
  <PresentationFormat>On-screen Show (16:9)</PresentationFormat>
  <Paragraphs>162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Anton</vt:lpstr>
      <vt:lpstr>Arial</vt:lpstr>
      <vt:lpstr>Fira Sans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CSE Students</cp:lastModifiedBy>
  <cp:revision>3</cp:revision>
  <dcterms:created xsi:type="dcterms:W3CDTF">2025-09-24T14:57:10Z</dcterms:created>
  <dcterms:modified xsi:type="dcterms:W3CDTF">2025-11-06T04:20:50Z</dcterms:modified>
</cp:coreProperties>
</file>